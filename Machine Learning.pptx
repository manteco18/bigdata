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5120640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5" name="Shape 3"/>
          <p:cNvSpPr/>
          <p:nvPr/>
        </p:nvSpPr>
        <p:spPr>
          <a:xfrm>
            <a:off x="8010144" y="52120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156448" y="5120640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7" name="Shape 5"/>
          <p:cNvSpPr/>
          <p:nvPr/>
        </p:nvSpPr>
        <p:spPr>
          <a:xfrm>
            <a:off x="8302752" y="52120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8449056" y="5120640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INDIVIDUAL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63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para implementar un modelo de Aprendizaje Automático: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preparación de los datos a su evaluación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952" y="3977640"/>
            <a:ext cx="12801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562356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C33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6235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20440" y="562356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C33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56235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562356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C33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56235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Evaluación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LA TAREA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investigación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3566160"/>
          </a:xfrm>
          <a:prstGeom prst="roundRect">
            <a:avLst>
              <a:gd name="adj" fmla="val 3077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3566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6263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 las etapas necesarias para implementar un modelo de Aprendizaje Automático (Machine Learning), desde la preparación de los datos hasta su evaluación.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909560" y="1554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095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1536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732520" y="1883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y transformar los datos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47888" y="2240280"/>
            <a:ext cx="0" cy="502920"/>
          </a:xfrm>
          <a:prstGeom prst="line">
            <a:avLst/>
          </a:prstGeom>
          <a:noFill/>
          <a:ln w="19050">
            <a:solidFill>
              <a:srgbClr val="C7D6E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909560" y="2743200"/>
            <a:ext cx="685800" cy="68580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0956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2724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0723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y entrenar el algoritmo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47888" y="3429000"/>
            <a:ext cx="0" cy="502920"/>
          </a:xfrm>
          <a:prstGeom prst="line">
            <a:avLst/>
          </a:prstGeom>
          <a:noFill/>
          <a:ln w="19050">
            <a:solidFill>
              <a:srgbClr val="C7D6E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909560" y="3931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3913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42611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desempeño del modelo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grandes bloques temáticos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EEF4F6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Datos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valores faltantes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y normalización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142239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916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423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3832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 / no supervisado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Clasificación, regresión y clustering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Regresión, árboles, KNN, RF, K-Means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Entrenamiento, validación y prueba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y underfitting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6002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EEF4F6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9536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423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Evaluación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3832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evaluar un modelo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clasificación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regresión</a:t>
            </a:r>
            <a:endParaRPr lang="en-US" sz="1150" dirty="0"/>
          </a:p>
          <a:p>
            <a:pPr marL="177800" indent="-177800">
              <a:lnSpc>
                <a:spcPct val="125000"/>
              </a:lnSpc>
              <a:buSzPct val="100000"/>
              <a:buChar char="▪"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1188720" cy="54864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429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de los Datos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Limpieza, valores faltantes y duplicados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Valores atípicos y transformación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Variables categóricas y selección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LOS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de datos, valores faltantes y duplicados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entrenar cualquier modelo, el conjunto de datos debe depurarse: corregir errores, decidir qué hacer con la información ausente y eliminar registros repetidos que distorsionarían el aprendizaje.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de datos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formatos inconsistentes, errores de captura, unidades mezcladas y valores fuera de rango antes de modelar.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23160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faltantes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9718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filas/columnas incompletas o imputarlas con media, mediana, moda o modelos predictivos según el caso.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duplicados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9718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eliminar registros repetidos que sobrerrepresentan patrones y sesgan el entrenamiento.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LOS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atípicos (outliers)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observaciones que se alejan notablemente del resto de los datos. Pueden deberse a errores de medición o a fenómenos reales — en ambos casos afectan promedios, varianzas y el ajuste del modelo.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7157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intercuartílico (IQR)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083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como atípico lo que cae fuera de Q1 − 1.5·IQR y Q3 + 1.5·IQR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844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Z (Z-score)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770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valores a más de ~3 desviaciones estándar de la media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4531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visual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457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y diagramas de dispersión para detectarlos rápidamente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23760" y="219456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0" y="4160520"/>
            <a:ext cx="17373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840480"/>
            <a:ext cx="100584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915400" y="365760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0" y="448056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0" y="4160520"/>
            <a:ext cx="4572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52760" y="3337560"/>
            <a:ext cx="201168" cy="201168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980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atípico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5074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típica con un outlier alejado del rango intercuartílico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LOS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y normalización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algoritmos son sensibles a la escala de las variables. Transformar y normalizar los datos asegura que ninguna variable domine el modelo solo por tener valores más grandes.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355848"/>
            <a:ext cx="2834640" cy="201168"/>
          </a:xfrm>
          <a:prstGeom prst="rect">
            <a:avLst/>
          </a:prstGeom>
          <a:solidFill>
            <a:srgbClr val="DDE6E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355848"/>
            <a:ext cx="793699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33088"/>
            <a:ext cx="2834640" cy="201168"/>
          </a:xfrm>
          <a:prstGeom prst="rect">
            <a:avLst/>
          </a:prstGeom>
          <a:solidFill>
            <a:srgbClr val="DDE6E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133088"/>
            <a:ext cx="269290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910328"/>
            <a:ext cx="2834640" cy="201168"/>
          </a:xfrm>
          <a:prstGeom prst="rect">
            <a:avLst/>
          </a:prstGeom>
          <a:solidFill>
            <a:srgbClr val="DDE6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910328"/>
            <a:ext cx="425196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4251960" y="214884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142239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2628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(normalizado 0–1)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3355848"/>
            <a:ext cx="2834640" cy="201168"/>
          </a:xfrm>
          <a:prstGeom prst="rect">
            <a:avLst/>
          </a:prstGeom>
          <a:solidFill>
            <a:srgbClr val="1C335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6280" y="3355848"/>
            <a:ext cx="907085" cy="20116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628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26280" y="4133088"/>
            <a:ext cx="2834640" cy="201168"/>
          </a:xfrm>
          <a:prstGeom prst="rect">
            <a:avLst/>
          </a:prstGeom>
          <a:solidFill>
            <a:srgbClr val="1C335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26280" y="4133088"/>
            <a:ext cx="1133856" cy="20116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2628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26280" y="4910328"/>
            <a:ext cx="2834640" cy="201168"/>
          </a:xfrm>
          <a:prstGeom prst="rect">
            <a:avLst/>
          </a:prstGeom>
          <a:solidFill>
            <a:srgbClr val="1C335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4910328"/>
            <a:ext cx="1559052" cy="20116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0" y="22951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75320" y="2185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24963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Reescala los valores a un rango fijo, típicamente [0, 1]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01000" y="34655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(Z-score)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36667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 los datos en media 0 y desviación estándar 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01000" y="46360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75320" y="4526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logarítmica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8371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asimetría en distribuciones muy sesgadas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LOS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categóricas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algoritmos trabajan con números, así que las variables cualitativas (ciudad, color, categoría) deben convertirse a una representación numérica antes de entrenar el modelo.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columna binaria (0/1) por cada categoría. Ideal cuando no existe un orden natural entre ellas, como el color o el país.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23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97180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un número entero a cada categoría (0, 1, 2…). Útil cuando sí existe un orden lógico, como nivel educativo o talla.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1945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423160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Codificación de frecuencia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97180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cada categoría por su frecuencia o proporción en el dataset, útil con muchas categorías distintas.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LOS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variables: features y target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todas las columnas disponibles se elige un subconjunto relevante (features) para predecir la variable de interés (target), descartando las que aportan ruido o están correlacionadas entre sí.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original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794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2519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251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DDE6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709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cliente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516636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E874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166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Compró (Sí/No)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4920" y="3657600"/>
            <a:ext cx="640080" cy="457200"/>
          </a:xfrm>
          <a:prstGeom prst="rightArrow">
            <a:avLst/>
          </a:prstGeom>
          <a:solidFill>
            <a:srgbClr val="C7D6E3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22860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7220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(predictoras)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063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· Ingreso · Ciudad · Historial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41605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8743B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72200" y="4297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(objetivo)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C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¿Compró el producto? (Sí / No)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selección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2697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con el objetivo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correlación entre variables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identificadores sin valor predictivo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1188720" cy="54864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429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Supervisado vs. no supervisado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Clasificación, regresión y clustering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Entrenamiento, validación y ajuste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modelo de Machine Learning?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matemático que aprende patrones a partir de datos históricos, en lugar de seguir reglas programadas explícitamente, para luego hacer predicciones o decisiones sobre datos nuevos.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760720" cy="2468880"/>
          </a:xfrm>
          <a:prstGeom prst="roundRect">
            <a:avLst>
              <a:gd name="adj" fmla="val 4444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4015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pocas palabras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"aprende" una función que relaciona las variables de entrada con la salida deseada, ajustando sus parámetros internos durante el entrenamiento.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265176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0372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02752" y="3154680"/>
            <a:ext cx="265176" cy="365760"/>
          </a:xfrm>
          <a:prstGeom prst="rightArrow">
            <a:avLst/>
          </a:prstGeom>
          <a:solidFill>
            <a:srgbClr val="C7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265176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9536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(algoritmo)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94392" y="3154680"/>
            <a:ext cx="265176" cy="365760"/>
          </a:xfrm>
          <a:prstGeom prst="rightArrow">
            <a:avLst/>
          </a:prstGeom>
          <a:solidFill>
            <a:srgbClr val="C7D6E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265176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E8743B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28700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decisión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4389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 y se refina: más datos y ajustes mejoran la calidad de las predicciones.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supervisado y no supervisado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Supervisado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a partir de datos ya etiquetados: conoce tanto las entradas como la respuesta correcta.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datos etiquetados (con respuesta conocida)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 clasificación y regresión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predecir el precio de una casa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supervisado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explora datos sin etiquetas, buscando estructuras, patrones o grupos por sí mismo.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3375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datos etiquetados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 clustering y reducción de dimensiones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agrupar clientes con hábitos similares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problemas: clasificación, regresión y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◫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una categoría o clase discreta.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¿es correo spam o no?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63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un valor numérico continuo.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470916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precio de una vivienda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14884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063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datos similares sin etiquetas previas.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470916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segmentos de clientes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más utilizados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una recta para predecir valores numéricos continuos.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55448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7556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755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la probabilidad de pertenecer a una clase (0/1).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17556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1624" y="1755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Clas. / Reg.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Árboles de Decisión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los datos con reglas jerárquicas tipo "si... entonces".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93592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94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794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Clas. / Reg.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537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según los k vecinos más cercanos en el espacio de datos.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0832" y="3593592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794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3794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Clas. / Reg.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5537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muchos árboles de decisión para mayor precisión y estabilidad.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93024" y="3593592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21624" y="3794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1624" y="3794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421624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21624" y="45537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datos en k clústeres según su cercanía o similitud.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entrenamiento, validación y prueba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se divide en subconjuntos independientes para asegurar que el modelo se evalúe sobre información que nunca ha visto durante el ajuste de sus parámetros.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638544" cy="82296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6638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87184" y="2468880"/>
            <a:ext cx="2212848" cy="82296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87184" y="246888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00032" y="2468880"/>
            <a:ext cx="2212848" cy="822960"/>
          </a:xfrm>
          <a:prstGeom prst="rect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00032" y="246888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30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(~60-70%)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63016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los patrones ajustando sus parámetros internos.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98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(~15-20%)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49884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 ajustar hiperparámetros y comparar modelos sin tocar el set de prueba.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28016" cy="12801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367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(~15-20%)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53675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desempeño final sobre datos completamente nuevos para el modelo.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y underfitting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 (subajuste)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demasiado simple: no logra capturar los patrones ni siquiera en los datos de entrenamiento.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desempeño en entrenamiento y en prueba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poco flexible o los datos son insuficientes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modelo más complejo o más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42239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(sobreajuste)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memoriza el ruido y los detalles del set de entrenamiento, en lugar de aprender el patrón general.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918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en entrenamiento, pobre en datos nuevos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demasiado complejo para los datos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2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regularización, más datos o simplificar el modelo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1188720" cy="54864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429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y Evaluación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Qué significa evaluar un modelo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Métricas de clasificación y regresión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Matriz de confusión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EVALUACIÓN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evaluar un modelo?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un modelo es medir, con datos que no vio durante el entrenamiento, qué tan bien generaliza sus predicciones a casos nuevos. Sin evaluación no hay forma objetiva de saber si el modelo es útil.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predicciones del modelo contra los valores reales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apoya en métricas numéricas específicas según el tipo de problema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distintos modelos y elegir el más adecuado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a detectar overfitting y underfitting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142239"/>
          </a:solidFill>
          <a:ln/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352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grandes familias de métricas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256032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063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35240" y="4069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874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572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C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R²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EVALUACIÓN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clasificación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5176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7D6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(TP+TN) / Total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total de predicciones correctas sobre el total de casos.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691640"/>
            <a:ext cx="265176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11880" y="2560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7D6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(TP+FP)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que el modelo predijo como positivo, cuánto lo era realmente.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91640"/>
            <a:ext cx="2651760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46520" y="2560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7D6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(TP+FN)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todos los positivos reales, cuántos logró identificar el modelo.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691640"/>
            <a:ext cx="2651760" cy="109728"/>
          </a:xfrm>
          <a:prstGeom prst="rect">
            <a:avLst/>
          </a:prstGeom>
          <a:solidFill>
            <a:srgbClr val="14223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811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2560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7D6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2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2·(P·R)/(P+R)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2918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armónica entre precision y recall; equilibra ambas métricas.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EVALUACIÓN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regresión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absoluto medio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las diferencias absolutas entre valor real y predicho.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cuadrático medio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los errores al cuadrado; penaliza fuerte los errores grandes.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965960"/>
            <a:ext cx="822960" cy="82296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Raíz del MSE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MSE pero en las mismas unidades que la variable original.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9525">
            <a:solidFill>
              <a:srgbClr val="DD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4223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965960"/>
            <a:ext cx="822960" cy="822960"/>
          </a:xfrm>
          <a:prstGeom prst="ellipse">
            <a:avLst/>
          </a:prstGeom>
          <a:solidFill>
            <a:srgbClr val="14223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26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Coef. de determinación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proporción de la variabilidad de los datos explica el modelo (0 a 1).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Y EVALUACIÓN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que compara las predicciones del modelo contra los valores reales en un problema de clasificación, mostrando exactamente dónde acierta y dónde se equivoca.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478024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78024" y="2569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758184" y="2569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85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98571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31720" y="2788920"/>
            <a:ext cx="1234440" cy="123444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355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2788920"/>
            <a:ext cx="1234440" cy="1234440"/>
          </a:xfrm>
          <a:prstGeom prst="rect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355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78731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4069080"/>
            <a:ext cx="1234440" cy="1234440"/>
          </a:xfrm>
          <a:prstGeom prst="rect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463600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4069080"/>
            <a:ext cx="1234440" cy="123444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463600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514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Verdadero Positivo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predijo positivo y acertó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291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— Verdadero Negativo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predijo negativo y acertó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4069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— Falso Positivo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predijo positivo, pero era negativo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4846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— Falso Negativo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5120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predijo negativo, pero era positivo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Etapas de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1C33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77240" y="3383280"/>
            <a:ext cx="1188720" cy="54864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preparación de los datos a la evaluación del modelo: el ciclo completo de un proyecto de Machine Learning.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2026-09-13T01:55:49Z</dcterms:created>
  <dcterms:modified xsi:type="dcterms:W3CDTF">2026-09-13T01:55:49Z</dcterms:modified>
</cp:coreProperties>
</file>